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【幕前准备 / 封面放映】</a:t>
            </a:r>
          </a:p>
          <a:p>
            <a:r>
              <a:t>• 剧情节点：大赛报幕、大幕未启、观众入场。</a:t>
            </a:r>
          </a:p>
          <a:p>
            <a:r>
              <a:t>• 触发切页时机：主持人报幕完毕，舞台灯光全暗，全场静止，赵学衡在桌前坐定吃面时，切入第 2 页（第 1 幕）。</a:t>
            </a:r>
          </a:p>
          <a:p>
            <a:r>
              <a:t>• 舞台灯光设计：全场暗光，聚光灯缓缓准备。</a:t>
            </a:r>
          </a:p>
          <a:p>
            <a:r>
              <a:t>• 现场音效与配乐：低沉机械钟表滴答声隐约渐入。</a:t>
            </a:r>
          </a:p>
          <a:p>
            <a:r>
              <a:t>• 放映员实操指南：保持封面稳定放映，等待舞台开场指令，切忌误触翻页。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幕：宿舍暗潮 · 寡淡清汤面与伪装】</a:t>
            </a:r>
          </a:p>
          <a:p>
            <a:r>
              <a:t>• 剧情节点：赵学衡深夜孤光吃清汤面嚼生大蒜，强装自律背诵中药方歌。</a:t>
            </a:r>
          </a:p>
          <a:p>
            <a:r>
              <a:t>• 触发切页时机：赵学衡大喊“进！门没锁！大晚上的谁啊？”，门口急促敲门声响起、郝朋程澄推门瞬间，切入第 3 页（第 2 幕）。</a:t>
            </a:r>
          </a:p>
          <a:p>
            <a:r>
              <a:t>• 舞台灯光设计：昏暗清冷台灯，局部顶光打在桌面，四周陷入暗影。</a:t>
            </a:r>
          </a:p>
          <a:p>
            <a:r>
              <a:t>• 现场音效与配乐：沉重机械钟表滴答声、压迫感低音铺垫。</a:t>
            </a:r>
          </a:p>
          <a:p>
            <a:r>
              <a:t>• 放映员实操指南：盯紧敲门动作与推门瞬间，迅速切页，配合走廊光倾泻。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幕：门口对峙 · 走廊白光与心理搜查官】</a:t>
            </a:r>
          </a:p>
          <a:p>
            <a:r>
              <a:t>• 剧情节点：郝朋夹公文夹推门而入，走廊光切入，赵学衡筷子悬停，郝朋挑明搜查任务。</a:t>
            </a:r>
          </a:p>
          <a:p>
            <a:r>
              <a:t>• 触发切页时机：赵学衡笑称“我就是个遵纪守法、本本分分的大三穷学生啊！”，郝朋回应“你是不是本分，看看就知道了。程澄，查一查他的桌面和公开记录”时，切入第 4 页（第 3 幕）。</a:t>
            </a:r>
          </a:p>
          <a:p>
            <a:r>
              <a:t>• 舞台灯光设计：房门骤开，走廊刺眼冷白强光斜切入室，强明暗反差剪影。</a:t>
            </a:r>
          </a:p>
          <a:p>
            <a:r>
              <a:t>• 现场音效与配乐：门骤开撞击声、心跳急促骤停音效。</a:t>
            </a:r>
          </a:p>
          <a:p>
            <a:r>
              <a:t>• 放映员实操指南：两人言语交锋，在郝朋下令搜查桌面时切页。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幕：宿舍交锋 · 打卡神话与助眠药单】</a:t>
            </a:r>
          </a:p>
          <a:p>
            <a:r>
              <a:t>• 剧情节点：程澄翻出100%打卡本，郝朋直击失眠多梦与助眠药单，出示通行证移步暗室铁柜。</a:t>
            </a:r>
          </a:p>
          <a:p>
            <a:r>
              <a:t>• 触发切页时机：郝朋展开通行证“既然书桌查不出什么，那咱们就换个地方——移步去你的专属‘大宅’看一看”，演员移步储物柜时，切入第 5 页（第 4 幕）。</a:t>
            </a:r>
          </a:p>
          <a:p>
            <a:r>
              <a:t>• 舞台灯光设计：桌面局部特写聚光，背景隐现微弱心电红光。</a:t>
            </a:r>
          </a:p>
          <a:p>
            <a:r>
              <a:t>• 现场音效与配乐：心跳重锤加速，低沉大提琴旋律压抑切入。</a:t>
            </a:r>
          </a:p>
          <a:p>
            <a:r>
              <a:t>• 放映员实操指南：郝朋亮出《心房关怀通行证》并移步铁柜时切页。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幕：暗室铁柜 · 三把铜锁与死守柜门】</a:t>
            </a:r>
          </a:p>
          <a:p>
            <a:r>
              <a:t>• 剧情节点：储物柜三把黄铜大锁，赵学衡以身死死挡柜，郝朋程澄合力拉开赵学衡、钥匙入锁。</a:t>
            </a:r>
          </a:p>
          <a:p>
            <a:r>
              <a:t>• 触发切页时机：程澄大喊“起开！”，钥匙入锁发出刺耳金属声、柜门猛然被拽开瞬间，切入第 6 页（第 5 幕）。</a:t>
            </a:r>
          </a:p>
          <a:p>
            <a:r>
              <a:t>• 舞台灯光设计：舞台骤暗，刺目冰蓝垂直追光打在储物柜上，两侧陷入深暗。</a:t>
            </a:r>
          </a:p>
          <a:p>
            <a:r>
              <a:t>• 现场音效与配乐：钥匙插入铜锁刺耳扭转声、沉重铁链撞击声。</a:t>
            </a:r>
          </a:p>
          <a:p>
            <a:r>
              <a:t>• 放映员实操指南：柜门拽开、开锁金属声响起的瞬间精准切页！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幕：书籍雪崩 · 资料海啸与痛哭溃堤】</a:t>
            </a:r>
          </a:p>
          <a:p>
            <a:r>
              <a:t>• 剧情节点：柜中讲义如雪崩倾倒，未拆封资料散落一地，赵学衡瘫坐痛哭崩溃，自白冒名顶替恐惧。</a:t>
            </a:r>
          </a:p>
          <a:p>
            <a:r>
              <a:t>• 触发切页时机：赵学衡嘶喊“我快被这些纸压死了！我快被逼疯了！！”，舞台静止抽泣，林凡携紫竹笛缓步上场时，切入第 7 页（第 6 幕）。</a:t>
            </a:r>
          </a:p>
          <a:p>
            <a:r>
              <a:t>• 舞台灯光设计：单束苍白顶光刺射倾泻的书海，戏剧大冲突追光。</a:t>
            </a:r>
          </a:p>
          <a:p>
            <a:r>
              <a:t>• 现场音效与配乐：低沉压抑弦乐极速高潮、重锤心跳轰鸣达到顶点。</a:t>
            </a:r>
          </a:p>
          <a:p>
            <a:r>
              <a:t>• 放映员实操指南：高潮哭诉结束，林凡上台递步时切入温情画面。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幕：破防与接纳 · 甩开应激到温茶抚慰】</a:t>
            </a:r>
          </a:p>
          <a:p>
            <a:r>
              <a:t>• 剧情节点：赵学衡应激甩手，林凡平视共情递上陈皮麦冬茶，郝朋温和剖析执念。</a:t>
            </a:r>
          </a:p>
          <a:p>
            <a:r>
              <a:t>• 触发切页时机：郝朋说“接纳自己的不完美，允许自己今天只是一棵刚刚破土的幼苗，不需要在一天之内长成参天大树”，赵学衡准备撕碎纸条时，切入第 8 页（第 7 幕）。</a:t>
            </a:r>
          </a:p>
          <a:p>
            <a:r>
              <a:t>• 舞台灯光设计：舞台静默片刻，温暖琥珀色漫射光渐亮，缓缓破除室内阴霾。</a:t>
            </a:r>
          </a:p>
          <a:p>
            <a:r>
              <a:t>• 现场音效与配乐：弦乐由激越转入舒缓长音，呼吸声逐渐趋于平稳。</a:t>
            </a:r>
          </a:p>
          <a:p>
            <a:r>
              <a:t>• 放映员实操指南：温情对话结束，纸条扬起撕碎、竹笛将起时切页。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幕：笛声晨光 · 紫竹清心与释然微笑】</a:t>
            </a:r>
          </a:p>
          <a:p>
            <a:r>
              <a:t>• 剧情节点：纸条撕碎成蝶飞扬，林凡现场吹奏紫竹笛《清心引》，程澄约定明天包子与草药园，赵学衡释怀微笑。</a:t>
            </a:r>
          </a:p>
          <a:p>
            <a:r>
              <a:t>• 触发切页时机：赵学衡笑称“好！去草药园！……郝委员，谢谢你们。这场搜查，把我心里发霉的角落，全都晒透了”，郝朋转向观众总结时，切入第 9 页（第 8 幕）。</a:t>
            </a:r>
          </a:p>
          <a:p>
            <a:r>
              <a:t>• 舞台灯光设计：清晨明媚阳光大面积漫射，如草药园般充满生机绿意。</a:t>
            </a:r>
          </a:p>
          <a:p>
            <a:r>
              <a:t>• 现场音效与配乐：现场竹笛独奏《清心引》清越响起，空灵流水古琴衬底。</a:t>
            </a:r>
          </a:p>
          <a:p>
            <a:r>
              <a:t>• 放映员实操指南：竹笛独奏段落保持画面，台词转向全场总结时切页。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幕：尾声谢幕 · 内经金句与四人鞠躬】</a:t>
            </a:r>
          </a:p>
          <a:p>
            <a:r>
              <a:t>• 剧情节点：郝朋面向全场观众从容朗诵《黄帝内经》经典名言，四位演员并肩而立。</a:t>
            </a:r>
          </a:p>
          <a:p>
            <a:r>
              <a:t>• 触发切页时机：郝朋朗诵完“恬淡虚无，真气从之；精神内守，病安从来！”，全场掌声响起、四人鞠躬时，切入第 10 页（致谢尾页）。</a:t>
            </a:r>
          </a:p>
          <a:p>
            <a:r>
              <a:t>• 舞台灯光设计：剧场温暖金黄色泛光全开，辉煌明亮。</a:t>
            </a:r>
          </a:p>
          <a:p>
            <a:r>
              <a:t>• 现场音效与配乐：温暖宏大终曲交响、全场热烈掌声混音。</a:t>
            </a:r>
          </a:p>
          <a:p>
            <a:r>
              <a:t>• 放映员实操指南：台词落地金句念完，鞠躬掌声切入致谢页！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页：致谢页 · 演职人员与特别鸣谢】</a:t>
            </a:r>
          </a:p>
          <a:p>
            <a:r>
              <a:t>• 剧情节点：全剧终谢幕，演员向观众深情鞠躬，大屏呈现演职人员表与鸣谢金句。</a:t>
            </a:r>
          </a:p>
          <a:p>
            <a:r>
              <a:t>• 舞台灯光设计：剧场全亮，观众席泛光。</a:t>
            </a:r>
          </a:p>
          <a:p>
            <a:r>
              <a:t>• 现场音效与配乐：谢幕背景交响乐持续播放。</a:t>
            </a:r>
          </a:p>
          <a:p>
            <a:r>
              <a:t>• 放映员实操指南：大屏定格展示此页，直到大幕完全闭合或主持人上台，严禁再次按翻页键！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页：后台全流程场控与视听调度表（仅供后台导演与技术组查阅）】</a:t>
            </a:r>
          </a:p>
          <a:p>
            <a:r>
              <a:t>• 本页为后台剧组全流程执行表，包含 8 幕角色走位、道具流转、灯光预设、音效节拍点与场控要点。</a:t>
            </a:r>
          </a:p>
          <a:p>
            <a:r>
              <a:t>• 供现场导演、灯光师、音效师推演、彩排或打印场控单使用。严禁在大屏向观众放映！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CD5A"/>
                </a:solidFill>
                <a:latin typeface="Microsoft YaHei"/>
              </a:defRPr>
            </a:pPr>
            <a:r>
              <a:t>第十四届校园心理情景剧大赛 · 舞台放映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1055" y="228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DCE1EB"/>
                </a:solidFill>
                <a:latin typeface="Microsoft YaHei"/>
              </a:defRPr>
            </a:pPr>
            <a:r>
              <a:t>2024级数据科学与大数据技术班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8C94A5"/>
                </a:solidFill>
                <a:latin typeface="Microsoft YaHei"/>
              </a:defRPr>
            </a:pPr>
            <a:r>
              <a:t>电影分镜剧照与现场放映演示文稿  ｜  《心房搜查令》  ｜  16:9 全屏画幅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645920" y="201168"/>
            <a:ext cx="8899855" cy="5303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BE9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5CD5A"/>
                </a:solidFill>
                <a:latin typeface="Microsoft YaHei"/>
              </a:defRPr>
            </a:pPr>
            <a:r>
              <a:t>“恬淡虚无，真气从之；精神内守，病安从来！”  ——《黄帝内经·素问》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4160520" cy="475488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3C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250" b="1">
                <a:solidFill>
                  <a:srgbClr val="F5CD5A"/>
                </a:solidFill>
                <a:latin typeface="Microsoft YaHei"/>
              </a:defRPr>
            </a:pPr>
            <a:r>
              <a:t>【 演职人员表 · CAST &amp; CREW 】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编剧 / 导演：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2024级数据科学与大数据技术班 创编组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赵学衡 (饰)：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中医药大三医学生 · 执念释怀与自省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郝  朋 (饰)：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班级心理委员 · 心房搜查与温情引航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程  澄 (饰)：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室友甲 · 现实客观观察者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林  凡 (饰)：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室友乙 · 竹笛现场演奏与五音情志调和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8255" y="1371600"/>
            <a:ext cx="4160520" cy="4754880"/>
          </a:xfrm>
          <a:prstGeom prst="roundRect">
            <a:avLst/>
          </a:prstGeom>
          <a:solidFill>
            <a:srgbClr val="0C1018"/>
          </a:solidFill>
          <a:ln w="12700">
            <a:solidFill>
              <a:srgbClr val="3C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1000"/>
              </a:spcAft>
              <a:defRPr sz="1250" b="1">
                <a:solidFill>
                  <a:srgbClr val="F5CD5A"/>
                </a:solidFill>
                <a:latin typeface="Microsoft YaHei"/>
              </a:defRPr>
            </a:pPr>
            <a:r>
              <a:t>【 特别鸣谢 · SPECIAL THANKS 】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指导单位：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校学生工作部（处） / 心理健康教育与咨询中心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学术支持：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传统中医药五音疗疾与情志相胜指导组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剧组班级：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2024级数据科学与大数据技术班 全体同学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技术呈现：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16:9 沉浸式电影分镜视听放映系统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• 致谢寄语：</a:t>
            </a:r>
            <a:r>
              <a:rPr sz="950">
                <a:solidFill>
                  <a:srgbClr val="DCE1EB"/>
                </a:solidFill>
                <a:latin typeface="Microsoft YaHei"/>
              </a:rPr>
              <a:t> 《心房搜查令》全剧终 · 谢谢大家！诚挚感谢悉心陪伴！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《心房搜查令》后台全流程场控与视听调度表</a:t>
            </a:r>
          </a:p>
          <a:p>
            <a:pPr>
              <a:defRPr sz="1100">
                <a:solidFill>
                  <a:srgbClr val="F5CD5A"/>
                </a:solidFill>
                <a:latin typeface="Microsoft YaHei"/>
              </a:defRPr>
            </a:pPr>
            <a:r>
              <a:t>舞台剧组全流程精细化执行表 · 覆盖 8 幕分镜角色走位、道具流转、灯光预设与音效节拍点（仅供后台使用）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1109441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2103120"/>
                <a:gridCol w="2011680"/>
                <a:gridCol w="2103120"/>
                <a:gridCol w="2407615"/>
              </a:tblGrid>
              <a:tr h="604520"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幕次 / 场景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登场角色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核心道具调度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舞台灯光设计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现场音效与配乐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 lIns="73152" rIns="73152" tIns="73152" bIns="73152"/>
                    <a:lstStyle/>
                    <a:p>
                      <a:pPr algn="ctr">
                        <a:defRPr sz="110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场控与调度要点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第01幕·宿舍暗潮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简易课桌、清汤白水面、生大蒜、《中药学》书、分秒必争横幅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昏暗清冷台灯、局部顶光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沉重机械钟表滴答声、压迫感低音铺垫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重点把控吃面狼吞虎咽与背书念词的强装自律感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第02幕·门口对峙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黑色公文夹、门框暗影道具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走廊刺眼冷白强光斜切入室，强明暗反差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门骤开撞击声、心跳急促骤停音效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郝朋目光如炬具审讯威慑，赵学衡筷子定格半空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第03幕·宿舍交锋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100%全打钩日程手账、安神助眠胶囊处方、空药板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桌面局部特写聚光，背景隐现心电红光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心跳重锤加速，低沉大提琴旋律切入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红叉账本与助眠药单无情并置，层层戳穿防线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第04幕·暗室铁柜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双门深绿铁皮储物柜、三把黄铜大锁、封条、通行证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刺目冰蓝垂直追光，两侧深暗心理空间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钥匙插入铜锁刺耳扭转声、沉重铁链落地声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赵学衡以身死死贴挡柜门，尖锐破音抗拒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第05幕·书籍雪崩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成百上千全新考研讲义与空白试卷、未拆封讲义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单束苍白顶光刺射，戏剧大冲突追光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低沉压抑弦乐极速高潮、重锤心跳轰鸣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高潮爆发：资料海啸倾倒，赵学衡跪地抱头痛哭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第06幕·破防与接纳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赵学衡、郝朋、程澄、林凡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复古绿色搪瓷温茶杯、散落试卷手帕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温暖琥珀色漫射光渐亮，破除室内阴霾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弦乐由激越转入舒缓长音，呼吸声减弱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甩手抗拒防线破除，林凡平视递茶，共情接纳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第07幕·笛声晨光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赵学衡、郝朋、程澄、林凡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传统紫竹笛（配红穗）、严苛日程纸条碎片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清晨明媚阳光大面积漫射，草药园生机绿意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现场竹笛独奏《清心引》、空灵流水古琴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徵音清心角音疏肝，碎纸成蝶飞扬，重获释然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604520"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 b="1">
                          <a:solidFill>
                            <a:srgbClr val="F5CD5A"/>
                          </a:solidFill>
                          <a:latin typeface="Microsoft YaHei"/>
                        </a:defRPr>
                      </a:pPr>
                      <a:r>
                        <a:t>第08幕·谢幕归真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全体演员（四人并肩）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演出服、巨幅LED背景大屏（内经金句书法）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剧场温暖金黄色泛光全开，辉煌落幕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温暖宏大终曲交响、全场热烈掌声混音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  <a:tc>
                  <a:txBody>
                    <a:bodyPr lIns="54864" rIns="54864" tIns="54864" bIns="54864"/>
                    <a:lstStyle/>
                    <a:p>
                      <a:pPr>
                        <a:defRPr sz="950">
                          <a:solidFill>
                            <a:srgbClr val="DCE1EB"/>
                          </a:solidFill>
                          <a:latin typeface="Microsoft YaHei"/>
                        </a:defRPr>
                      </a:pPr>
                      <a:r>
                        <a:t>四人并肩牵手优雅鞠躬，黄帝内经经典句定格</a:t>
                      </a:r>
                    </a:p>
                  </a:txBody>
                  <a:tcPr>
                    <a:solidFill>
                      <a:srgbClr val="0E12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
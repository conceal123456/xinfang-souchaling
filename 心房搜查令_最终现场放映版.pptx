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97280"/>
            <a:ext cx="98142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400" b="1">
                <a:solidFill>
                  <a:srgbClr val="E6B446"/>
                </a:solidFill>
                <a:latin typeface="Microsoft YaHei"/>
              </a:defRPr>
            </a:pPr>
            <a:r>
              <a:t>第十四届校园心理情景剧大赛 · 舞台大屏放映系统</a:t>
            </a:r>
          </a:p>
          <a:p>
            <a:pPr>
              <a:spcAft>
                <a:spcPts val="1400"/>
              </a:spcAft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心房搜查令</a:t>
            </a:r>
          </a:p>
          <a:p>
            <a:pPr>
              <a:spcAft>
                <a:spcPts val="3000"/>
              </a:spcAft>
              <a:defRPr sz="2200" b="1">
                <a:solidFill>
                  <a:srgbClr val="E6B446"/>
                </a:solidFill>
                <a:latin typeface="Microsoft YaHei"/>
              </a:defRPr>
            </a:pPr>
            <a:r>
              <a:t>电影分镜剧照与台词字幕放映演示文稿 · 现场放映版</a:t>
            </a:r>
          </a:p>
          <a:p>
            <a:pPr>
              <a:spcAft>
                <a:spcPts val="1400"/>
              </a:spcAft>
              <a:defRPr sz="1450">
                <a:solidFill>
                  <a:srgbClr val="DCE1EB"/>
                </a:solidFill>
                <a:latin typeface="Microsoft YaHei"/>
              </a:defRPr>
            </a:pPr>
            <a:r>
              <a:t>创作立意：当代大学生学术囤积与冒名顶替困境 ｜ 认知解离断舍离 ｜ 中医五音情志相胜</a:t>
            </a:r>
          </a:p>
          <a:p>
            <a:pPr>
              <a:defRPr sz="1300">
                <a:solidFill>
                  <a:srgbClr val="8C94A5"/>
                </a:solidFill>
                <a:latin typeface="Microsoft YaHei"/>
              </a:defRPr>
            </a:pPr>
            <a:r>
              <a:t>演职班级：2024级数据科学与大数据技术班  ｜  画幅规范：16:9 电影级沉浸式全屏画幅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en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01 幕 · 宿舍暗潮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深夜孤光下的寡淡清汤面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01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【赵学衡】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“古人讲淡泊明志，咱们学医的人，肠胃清爽了，脑子才转得快。我这一天三顿白面条，舒坦！”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[舞台提示：深夜清冷台灯孤光，大蒜就面维持极简伪装，手捧《中药学》念念有词，内心暗潮汹涌]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en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02 幕 · 门口对峙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走廊白光倾泻与手持公文夹的心理搜查官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02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【郝朋】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“赵学衡，我们今晚过来，是接到全寝室的联合反映，带着心房搜查的紧急任务来的。”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[舞台提示：房门骤启，走廊森白强光斜切入室，公文夹在手目光如炬，赵学衡筷子僵在半空惊骇回眸]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en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03 幕 · 宿舍交锋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100%打卡神话与医务室频开助眠药的矛盾特写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03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【程澄 &amp; 郝朋】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程澄：“桌面打卡执行率100%。” ｜ 郝朋：“那为什么医务室的登记本上，频繁出现你开助眠药的记录？”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[舞台提示：全红钩日程手账与安神助眠胶囊处方并列，双手剧烈颤抖，背景幽红心律失常折线隐现]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en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04 幕 · 暗室铁柜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三把黄铜大锁与身体死守柜门的赵学衡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04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【赵学衡 &amp; 郝朋】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郝朋：“心理辅导老师签发《心房关怀通行证》。” ｜ 赵学衡：“别动！这柜子不是我的！……里面什么都没有！”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[舞台提示：冰蓝追光笼罩三道重锁铁柜，封条严密，赵学衡恐慌扑身死守，内心防御堡垒濒临解体]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en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05 幕 · 书籍雪崩（高潮）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书籍倾覆与赵学衡跪地抱头痛哭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05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【赵学衡】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“郝朋……我一页都没看完……全在这儿！我怕啊！我穷怕了，也落后怕了！我快被这些纸压死了！！”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[舞台提示：高潮溃堤！柜门洞开成千上万试卷书籍如雪崩倾覆，单束苍白顶光下跪地抱头号啕，心魔终决堤]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en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06 幕 · 破防与接纳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抗拒安慰的应激防御与平视递上的搪瓷温茶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06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【赵学衡 &amp; 林凡 &amp; 郝朋】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赵学衡：“别碰我！” ｜ 林凡：“我不懂，你教教我……先喝口热茶。” ｜ 郝朋：“你不是贪婪，你只是太想赢。”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[舞台提示：暖琥珀色柔光切入，甩开安慰的刺猬应激与平视递上的温热药茶，直面脆弱，破防走向真实接纳]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ene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07 幕 · 笛声晨光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横吹紫竹笛（徵音清心·角音疏肝）与撕碎苛刻清单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07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【郝朋 &amp; 赵学衡】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郝朋：“接纳自己的不完美，允许自己今天只是一棵刚刚破土的幼苗。” ｜ 赵学衡：“好！去草药园！”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[舞台提示：晨光穿窗洒入，紫竹笛悠扬吹奏《清心引》，苛刻作息纸条被狠狠撕碎扬向晨曦，如释重负]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ene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228600"/>
            <a:ext cx="10728655" cy="713232"/>
          </a:xfrm>
          <a:prstGeom prst="roundRect">
            <a:avLst/>
          </a:prstGeom>
          <a:solidFill>
            <a:srgbClr val="0E121A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500" b="1">
                <a:solidFill>
                  <a:srgbClr val="E6B446"/>
                </a:solidFill>
                <a:latin typeface="Microsoft YaHei"/>
              </a:rPr>
              <a:t>第 08 幕 · 尾声谢幕</a:t>
            </a:r>
            <a:r>
              <a:rPr sz="1500">
                <a:solidFill>
                  <a:srgbClr val="8C94A5"/>
                </a:solidFill>
                <a:latin typeface="Microsoft YaHei"/>
              </a:rPr>
              <a:t>  ｜ 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四人携手鞠躬致谢与《黄帝内经》经典金句大屏</a:t>
            </a:r>
          </a:p>
          <a:p>
            <a:pPr>
              <a:defRPr sz="1050">
                <a:solidFill>
                  <a:srgbClr val="E6B446"/>
                </a:solidFill>
                <a:latin typeface="Microsoft YaHei"/>
              </a:defRPr>
            </a:pPr>
            <a:r>
              <a:t>《心房搜查令》电影分镜放映系统  ·  SCENE 08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56048"/>
            <a:ext cx="10728655" cy="1572768"/>
          </a:xfrm>
          <a:prstGeom prst="roundRect">
            <a:avLst/>
          </a:prstGeom>
          <a:solidFill>
            <a:srgbClr val="0E121A"/>
          </a:solidFill>
          <a:ln w="1905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E6B446"/>
                </a:solidFill>
                <a:latin typeface="Microsoft YaHei"/>
              </a:rPr>
              <a:t>【郝朋（领衔总结）】  </a:t>
            </a:r>
            <a:r>
              <a:rPr sz="1450" b="1">
                <a:solidFill>
                  <a:srgbClr val="FFFFFF"/>
                </a:solidFill>
                <a:latin typeface="Microsoft YaHei"/>
              </a:rPr>
              <a:t>“大梦初醒，心门始开。正如《黄帝内经》所言——‘恬淡虚无，真气从之；精神内守，病安从来！’”</a:t>
            </a:r>
          </a:p>
          <a:p>
            <a:pPr>
              <a:defRPr sz="1150">
                <a:solidFill>
                  <a:srgbClr val="E6B446"/>
                </a:solidFill>
                <a:latin typeface="Microsoft YaHei"/>
              </a:defRPr>
            </a:pPr>
            <a:r>
              <a:t>[舞台提示：全场金碧辉煌漫射光，四位青年演员并肩牵手优雅鞠躬，LED大屏金字璀璨，大幕从容落下]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E6B446"/>
                </a:solidFill>
                <a:latin typeface="Microsoft YaHei"/>
              </a:defRPr>
            </a:pPr>
            <a:r>
              <a:t>《心房搜查令》 · 全剧终</a:t>
            </a:r>
          </a:p>
          <a:p>
            <a:pPr algn="ctr">
              <a:defRPr sz="5000" b="1">
                <a:solidFill>
                  <a:srgbClr val="FFFFFF"/>
                </a:solidFill>
                <a:latin typeface="Microsoft YaHei"/>
              </a:defRPr>
            </a:pPr>
            <a:r>
              <a:t>谢 谢 大 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148840"/>
            <a:ext cx="9448495" cy="73152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E6B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6B446"/>
                </a:solidFill>
                <a:latin typeface="Microsoft YaHei"/>
              </a:defRPr>
            </a:pPr>
            <a:r>
              <a:t>“恬淡虚无，真气从之；精神内守，病安从来！”  ——《黄帝内经·素问》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063240"/>
            <a:ext cx="4800600" cy="3063240"/>
          </a:xfrm>
          <a:prstGeom prst="roundRect">
            <a:avLst/>
          </a:prstGeom>
          <a:solidFill>
            <a:srgbClr val="101620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28600"/>
          <a:lstStyle/>
          <a:p>
            <a:pPr algn="ctr">
              <a:spcAft>
                <a:spcPts val="1200"/>
              </a:spcAft>
              <a:defRPr sz="1400" b="1">
                <a:solidFill>
                  <a:srgbClr val="E6B446"/>
                </a:solidFill>
                <a:latin typeface="Microsoft YaHei"/>
              </a:defRPr>
            </a:pPr>
            <a:r>
              <a:t>【 演职人员表 · CAST &amp; CREW 】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编剧 / 导演：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2024级数据科学与大数据技术班 创编组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赵学衡 (饰)：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中医药大三医学生 · 执念释怀与自省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郝  朋 (饰)：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班级心理委员 · 心房搜查与温情引航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程  澄 (饰)：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室友甲 · 现实客观观察者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林  凡 (饰)：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室友乙 · 竹笛现场演奏与五音情志调和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3063240"/>
            <a:ext cx="4800600" cy="3063240"/>
          </a:xfrm>
          <a:prstGeom prst="roundRect">
            <a:avLst/>
          </a:prstGeom>
          <a:solidFill>
            <a:srgbClr val="101620"/>
          </a:solidFill>
          <a:ln w="15240">
            <a:solidFill>
              <a:srgbClr val="32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28600"/>
          <a:lstStyle/>
          <a:p>
            <a:pPr algn="ctr">
              <a:spcAft>
                <a:spcPts val="1200"/>
              </a:spcAft>
              <a:defRPr sz="1400" b="1">
                <a:solidFill>
                  <a:srgbClr val="E6B446"/>
                </a:solidFill>
                <a:latin typeface="Microsoft YaHei"/>
              </a:defRPr>
            </a:pPr>
            <a:r>
              <a:t>【 特别鸣谢 · SPECIAL THANKS 】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指导单位：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校学生工作部（处） / 心理健康教育与咨询中心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学术支持：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传统中医药五音疗疾与情志相胜指导组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剧组班级：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2024级数据科学与大数据技术班 全体同学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技术呈现：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16:9 沉浸式电影分镜视听放映系统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• 致谢寄语：</a:t>
            </a:r>
            <a:r>
              <a:rPr sz="1100">
                <a:solidFill>
                  <a:srgbClr val="DCE1EB"/>
                </a:solidFill>
                <a:latin typeface="Microsoft YaHei"/>
              </a:rPr>
              <a:t> 诚挚感谢各位评委老师、现场观众的悉心指导与陪伴！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《心房搜查令》后台全流程场控与视听调度表</a:t>
            </a:r>
          </a:p>
          <a:p>
            <a:pPr>
              <a:defRPr sz="1100">
                <a:solidFill>
                  <a:srgbClr val="E6B446"/>
                </a:solidFill>
                <a:latin typeface="Microsoft YaHei"/>
              </a:defRPr>
            </a:pPr>
            <a:r>
              <a:t>舞台剧组全流程精细化执行表 · 覆盖 8 幕分镜角色走位、道具流转、灯光预设与音效节拍点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51560"/>
          <a:ext cx="11094415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280160"/>
                <a:gridCol w="2103120"/>
                <a:gridCol w="2011680"/>
                <a:gridCol w="2103120"/>
                <a:gridCol w="2407615"/>
              </a:tblGrid>
              <a:tr h="604520"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幕次 / 场景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登场角色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核心道具调度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舞台灯光设计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现场音效与配乐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场控与调度要点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第01幕·宿舍暗潮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简易课桌、清汤白水面、生大蒜、《中药学》书、分秒必争横幅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昏暗清冷台灯、局部顶光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沉重机械钟表滴答声、压迫感低音铺垫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重点把控吃面狼吞虎咽与背书念词的强装自律感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第02幕·门口对峙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黑色公文夹、门框暗影道具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走廊刺眼冷白强光斜切入室，强明暗反差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门骤开撞击声、心跳急促骤停音效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郝朋目光如炬具审讯威慑，赵学衡筷子定格半空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第03幕·宿舍交锋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100%全打钩日程手账、安神助眠胶囊处方、空药板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桌面局部特写聚光，背景隐现心电红光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心跳重锤加速，低沉大提琴旋律切入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红叉账本与助眠药单无情并置，层层戳穿防线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第04幕·暗室铁柜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双门深绿铁皮储物柜、三把黄铜大锁、封条、通行证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刺目冰蓝垂直追光，两侧深暗心理空间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钥匙插入铜锁刺耳扭转声、沉重铁链落地声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赵学衡以身死死贴挡柜门，尖锐破音抗拒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第05幕·书籍雪崩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成百上千全新考研讲义与空白试卷、未拆封讲义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单束苍白顶光刺射，戏剧大冲突追光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低沉压抑弦乐极速高潮、重锤心跳轰鸣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高潮爆发：资料海啸倾倒，赵学衡跪地抱头痛哭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第06幕·破防与接纳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赵学衡、郝朋、程澄、林凡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复古绿色搪瓷温茶杯、散落试卷手帕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温暖琥珀色漫射光渐亮，破除室内阴霾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弦乐由激越转入舒缓长音，呼吸声减弱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甩手抗拒防线破除，林凡平视递茶，共情接纳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第07幕·笛声晨光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赵学衡、郝朋、程澄、林凡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传统紫竹笛（配红穗）、严苛日程纸条碎片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清晨明媚阳光大面积漫射，草药园生机绿意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现场竹笛独奏《清心引》、空灵流水古琴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徵音清心角音疏肝，碎纸成蝶飞扬，重获释然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第08幕·谢幕归真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全体演员（四人并肩）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演出服、巨幅LED背景大屏（内经金句书法）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剧场温暖金黄色泛光全开，辉煌落幕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温暖宏大终曲交响、全场热烈掌声混音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四人并肩牵手优雅鞠躬，黄帝内经经典句定格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
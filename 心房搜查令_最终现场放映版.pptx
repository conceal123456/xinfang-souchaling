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6B446"/>
                </a:solidFill>
                <a:latin typeface="Microsoft YaHei"/>
              </a:defRPr>
            </a:pPr>
            <a:r>
              <a:t>第十四届校园心理情景剧大赛 · 舞台放映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>
                <a:solidFill>
                  <a:srgbClr val="DCE1EB"/>
                </a:solidFill>
                <a:latin typeface="Microsoft YaHei"/>
              </a:defRPr>
            </a:pPr>
            <a:r>
              <a:t>2024级数据科学与大数据技术班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8C94A5"/>
                </a:solidFill>
                <a:latin typeface="Microsoft YaHei"/>
              </a:defRPr>
            </a:pPr>
            <a:r>
              <a:t>电影分镜剧照与现场放映演示文稿 · 最终放映版  ｜  《心房搜查令》  ｜  16:9 全屏画幅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828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E6B446"/>
                </a:solidFill>
                <a:latin typeface="Microsoft YaHei"/>
              </a:defRPr>
            </a:pPr>
            <a:r>
              <a:t>“恬淡虚无，真气从之；精神内守，病安从来！”  ——《黄帝内经·素问》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3931920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E6B446"/>
                </a:solidFill>
                <a:latin typeface="Microsoft YaHei"/>
              </a:defRPr>
            </a:pPr>
            <a:r>
              <a:t>【 演职人员表 · CAST &amp; CREW 】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• 编剧 / 导演：</a:t>
            </a:r>
            <a:r>
              <a:rPr sz="1000">
                <a:solidFill>
                  <a:srgbClr val="DCE1EB"/>
                </a:solidFill>
                <a:latin typeface="Microsoft YaHei"/>
              </a:rPr>
              <a:t> 2024级数据科学与大数据技术班 创编组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• 赵学衡 (饰)：</a:t>
            </a:r>
            <a:r>
              <a:rPr sz="1000">
                <a:solidFill>
                  <a:srgbClr val="DCE1EB"/>
                </a:solidFill>
                <a:latin typeface="Microsoft YaHei"/>
              </a:rPr>
              <a:t> 中医药大三医学生 · 执念释怀与自省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• 郝  朋 (饰)：</a:t>
            </a:r>
            <a:r>
              <a:rPr sz="1000">
                <a:solidFill>
                  <a:srgbClr val="DCE1EB"/>
                </a:solidFill>
                <a:latin typeface="Microsoft YaHei"/>
              </a:rPr>
              <a:t> 班级心理委员 · 心房搜查与温情引航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• 程  澄 (饰)：</a:t>
            </a:r>
            <a:r>
              <a:rPr sz="1000">
                <a:solidFill>
                  <a:srgbClr val="DCE1EB"/>
                </a:solidFill>
                <a:latin typeface="Microsoft YaHei"/>
              </a:rPr>
              <a:t> 室友甲 · 现实客观观察者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• 林  凡 (饰)：</a:t>
            </a:r>
            <a:r>
              <a:rPr sz="1000">
                <a:solidFill>
                  <a:srgbClr val="DCE1EB"/>
                </a:solidFill>
                <a:latin typeface="Microsoft YaHei"/>
              </a:rPr>
              <a:t> 室友乙 · 竹笛现场演奏与五音情志调和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1135" y="1600200"/>
            <a:ext cx="3931920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E6B446"/>
                </a:solidFill>
                <a:latin typeface="Microsoft YaHei"/>
              </a:defRPr>
            </a:pPr>
            <a:r>
              <a:t>【 特别鸣谢 · SPECIAL THANKS 】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• 指导单位：</a:t>
            </a:r>
            <a:r>
              <a:rPr sz="1000">
                <a:solidFill>
                  <a:srgbClr val="DCE1EB"/>
                </a:solidFill>
                <a:latin typeface="Microsoft YaHei"/>
              </a:rPr>
              <a:t> 校学生工作部（处） / 心理健康教育与咨询中心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• 学术支持：</a:t>
            </a:r>
            <a:r>
              <a:rPr sz="1000">
                <a:solidFill>
                  <a:srgbClr val="DCE1EB"/>
                </a:solidFill>
                <a:latin typeface="Microsoft YaHei"/>
              </a:rPr>
              <a:t> 传统中医药五音疗疾与情志相胜指导组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• 剧组班级：</a:t>
            </a:r>
            <a:r>
              <a:rPr sz="1000">
                <a:solidFill>
                  <a:srgbClr val="DCE1EB"/>
                </a:solidFill>
                <a:latin typeface="Microsoft YaHei"/>
              </a:rPr>
              <a:t> 2024级数据科学与大数据技术班 全体同学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• 技术呈现：</a:t>
            </a:r>
            <a:r>
              <a:rPr sz="1000">
                <a:solidFill>
                  <a:srgbClr val="DCE1EB"/>
                </a:solidFill>
                <a:latin typeface="Microsoft YaHei"/>
              </a:rPr>
              <a:t> 16:9 沉浸式电影分镜视听放映系统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• 致谢寄语：</a:t>
            </a:r>
            <a:r>
              <a:rPr sz="1000">
                <a:solidFill>
                  <a:srgbClr val="DCE1EB"/>
                </a:solidFill>
                <a:latin typeface="Microsoft YaHei"/>
              </a:rPr>
              <a:t> 《心房搜查令》全剧终 · 谢谢大家！诚挚感谢悉心陪伴！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《心房搜查令》后台全流程场控与视听调度表</a:t>
            </a:r>
          </a:p>
          <a:p>
            <a:pPr>
              <a:defRPr sz="1100">
                <a:solidFill>
                  <a:srgbClr val="E6B446"/>
                </a:solidFill>
                <a:latin typeface="Microsoft YaHei"/>
              </a:defRPr>
            </a:pPr>
            <a:r>
              <a:t>舞台剧组全流程精细化执行表 · 覆盖 8 幕分镜角色走位、道具流转、灯光预设与音效节拍点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51560"/>
          <a:ext cx="11094415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80160"/>
                <a:gridCol w="2103120"/>
                <a:gridCol w="2011680"/>
                <a:gridCol w="2103120"/>
                <a:gridCol w="2407615"/>
              </a:tblGrid>
              <a:tr h="604520">
                <a:tc>
                  <a:txBody>
                    <a:bodyPr lIns="73152" rIns="73152" tIns="73152" bIns="73152"/>
                    <a:lstStyle/>
                    <a:p>
                      <a:pPr algn="ctr">
                        <a:defRPr sz="110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幕次 / 场景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 lIns="73152" rIns="73152" tIns="73152" bIns="73152"/>
                    <a:lstStyle/>
                    <a:p>
                      <a:pPr algn="ctr">
                        <a:defRPr sz="110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登场角色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 lIns="73152" rIns="73152" tIns="73152" bIns="73152"/>
                    <a:lstStyle/>
                    <a:p>
                      <a:pPr algn="ctr">
                        <a:defRPr sz="110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核心道具调度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 lIns="73152" rIns="73152" tIns="73152" bIns="73152"/>
                    <a:lstStyle/>
                    <a:p>
                      <a:pPr algn="ctr">
                        <a:defRPr sz="110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舞台灯光设计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 lIns="73152" rIns="73152" tIns="73152" bIns="73152"/>
                    <a:lstStyle/>
                    <a:p>
                      <a:pPr algn="ctr">
                        <a:defRPr sz="110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现场音效与配乐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 lIns="73152" rIns="73152" tIns="73152" bIns="73152"/>
                    <a:lstStyle/>
                    <a:p>
                      <a:pPr algn="ctr">
                        <a:defRPr sz="110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场控与调度要点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第01幕·宿舍暗潮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简易课桌、清汤白水面、生大蒜、《中药学》书、分秒必争横幅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昏暗清冷台灯、局部顶光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沉重机械钟表滴答声、压迫感低音铺垫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重点把控吃面狼吞虎咽与背书念词的强装自律感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第02幕·门口对峙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赵学衡、郝朋、程澄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黑色公文夹、门框暗影道具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走廊刺眼冷白强光斜切入室，强明暗反差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门骤开撞击声、心跳急促骤停音效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郝朋目光如炬具审讯威慑，赵学衡筷子定格半空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第03幕·宿舍交锋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赵学衡、郝朋、程澄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100%全打钩日程手账、安神助眠胶囊处方、空药板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桌面局部特写聚光，背景隐现心电红光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心跳重锤加速，低沉大提琴旋律切入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红叉账本与助眠药单无情并置，层层戳穿防线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第04幕·暗室铁柜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赵学衡、郝朋、程澄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双门深绿铁皮储物柜、三把黄铜大锁、封条、通行证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刺目冰蓝垂直追光，两侧深暗心理空间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钥匙插入铜锁刺耳扭转声、沉重铁链落地声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赵学衡以身死死贴挡柜门，尖锐破音抗拒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第05幕·书籍雪崩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赵学衡、郝朋、程澄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成百上千全新考研讲义与空白试卷、未拆封讲义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单束苍白顶光刺射，戏剧大冲突追光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低沉压抑弦乐极速高潮、重锤心跳轰鸣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高潮爆发：资料海啸倾倒，赵学衡跪地抱头痛哭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第06幕·破防与接纳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赵学衡、郝朋、程澄、林凡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复古绿色搪瓷温茶杯、散落试卷手帕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温暖琥珀色漫射光渐亮，破除室内阴霾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弦乐由激越转入舒缓长音，呼吸声减弱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甩手抗拒防线破除，林凡平视递茶，共情接纳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第07幕·笛声晨光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赵学衡、郝朋、程澄、林凡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传统紫竹笛（配红穗）、严苛日程纸条碎片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清晨明媚阳光大面积漫射，草药园生机绿意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现场竹笛独奏《清心引》、空灵流水古琴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徵音清心角音疏肝，碎纸成蝶飞扬，重获释然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E6B446"/>
                          </a:solidFill>
                          <a:latin typeface="Microsoft YaHei"/>
                        </a:defRPr>
                      </a:pPr>
                      <a:r>
                        <a:t>第08幕·谢幕归真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全体演员（四人并肩）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演出服、巨幅LED背景大屏（内经金句书法）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剧场温暖金黄色泛光全开，辉煌落幕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温暖宏大终曲交响、全场热烈掌声混音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四人并肩牵手优雅鞠躬，黄帝内经经典句定格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